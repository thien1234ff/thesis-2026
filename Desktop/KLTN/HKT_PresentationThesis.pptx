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3" r:id="rId7"/>
    <p:sldId id="271" r:id="rId8"/>
    <p:sldId id="272" r:id="rId9"/>
    <p:sldId id="263" r:id="rId10"/>
    <p:sldId id="275" r:id="rId11"/>
    <p:sldId id="276" r:id="rId12"/>
    <p:sldId id="277" r:id="rId13"/>
    <p:sldId id="278" r:id="rId14"/>
    <p:sldId id="267" r:id="rId15"/>
    <p:sldId id="279" r:id="rId16"/>
    <p:sldId id="284" r:id="rId17"/>
    <p:sldId id="283" r:id="rId18"/>
    <p:sldId id="280" r:id="rId19"/>
    <p:sldId id="281" r:id="rId20"/>
    <p:sldId id="269" r:id="rId21"/>
    <p:sldId id="282" r:id="rId22"/>
  </p:sldIdLst>
  <p:sldSz cx="12192000" cy="6858000"/>
  <p:notesSz cx="6858000" cy="9144000"/>
  <p:embeddedFontLst>
    <p:embeddedFont>
      <p:font typeface="Calibri" panose="020F0502020204030204"/>
      <p:regular r:id="rId26"/>
      <p:bold r:id="rId27"/>
      <p:italic r:id="rId28"/>
      <p:boldItalic r:id="rId29"/>
    </p:embeddedFont>
    <p:embeddedFont>
      <p:font typeface="Montserrat"/>
      <p:regular r:id="rId30"/>
      <p:bold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5" name="Google Shape;95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5" name="Google Shape;105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3" name="Google Shape;113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d2059c426_0_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bd2059c426_0_7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2" name="Google Shape;122;g3bd2059c426_0_7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d2059c426_0_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bd2059c426_0_7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2" name="Google Shape;122;g3bd2059c426_0_7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d2059c426_0_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bd2059c426_0_7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2" name="Google Shape;122;g3bd2059c426_0_7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d2059c426_0_5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3bd2059c426_0_5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58" name="Google Shape;158;g3bd2059c426_0_53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d2059c426_0_5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3bd2059c426_0_5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58" name="Google Shape;158;g3bd2059c426_0_53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d2059c426_0_6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3bd2059c426_0_6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6" name="Google Shape;166;g3bd2059c426_0_6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d2059c426_0_6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3bd2059c426_0_6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6" name="Google Shape;166;g3bd2059c426_0_6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d2059c426_0_6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3bd2059c426_0_6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6" name="Google Shape;166;g3bd2059c426_0_6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d2059c426_0_10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bd2059c426_0_10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94" name="Google Shape;194;g3bd2059c426_0_103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d2059c426_0_10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bd2059c426_0_10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94" name="Google Shape;194;g3bd2059c426_0_103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d2059c426_0_10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bd2059c426_0_10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94" name="Google Shape;194;g3bd2059c426_0_103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d2059c426_0_10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bd2059c426_0_10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94" name="Google Shape;194;g3bd2059c426_0_103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d2059c426_0_10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bd2059c426_0_10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94" name="Google Shape;194;g3bd2059c426_0_103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d2059c426_0_10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bd2059c426_0_10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94" name="Google Shape;194;g3bd2059c426_0_103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d2059c426_0_1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bd2059c426_0_11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09" name="Google Shape;209;g3bd2059c426_0_11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d2059c426_0_1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bd2059c426_0_11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09" name="Google Shape;209;g3bd2059c426_0_11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2" name="Google Shape;32;p9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9"/>
          <p:cNvSpPr txBox="1"/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body" idx="1"/>
          </p:nvPr>
        </p:nvSpPr>
        <p:spPr>
          <a:xfrm>
            <a:off x="408375" y="1358283"/>
            <a:ext cx="11523215" cy="4900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521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570"/>
              </a:buClr>
              <a:buSzPts val="3520"/>
              <a:buFont typeface="Noto Sans Symbols"/>
              <a:buChar char="▪"/>
              <a:defRPr>
                <a:solidFill>
                  <a:srgbClr val="002570"/>
                </a:solidFill>
              </a:defRPr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570"/>
              </a:buClr>
              <a:buSzPts val="2800"/>
              <a:buFont typeface="Noto Sans Symbols"/>
              <a:buChar char="▪"/>
              <a:defRPr>
                <a:solidFill>
                  <a:srgbClr val="002570"/>
                </a:solidFill>
              </a:defRPr>
            </a:lvl2pPr>
            <a:lvl3pPr marL="1371600" lvl="2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570"/>
              </a:buClr>
              <a:buSzPts val="2400"/>
              <a:buFont typeface="Noto Sans Symbols"/>
              <a:buChar char="▪"/>
              <a:defRPr>
                <a:solidFill>
                  <a:srgbClr val="002570"/>
                </a:solidFill>
              </a:defRPr>
            </a:lvl3pPr>
            <a:lvl4pPr marL="1828800" lvl="3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570"/>
              </a:buClr>
              <a:buSzPts val="2000"/>
              <a:buFont typeface="Noto Sans Symbols"/>
              <a:buChar char="▪"/>
              <a:defRPr>
                <a:solidFill>
                  <a:srgbClr val="002570"/>
                </a:solidFill>
              </a:defRPr>
            </a:lvl4pPr>
            <a:lvl5pPr marL="2286000" lvl="4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570"/>
              </a:buClr>
              <a:buSzPts val="2000"/>
              <a:buFont typeface="Noto Sans Symbols"/>
              <a:buChar char="▪"/>
              <a:defRPr>
                <a:solidFill>
                  <a:srgbClr val="00257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type="dt" idx="10"/>
          </p:nvPr>
        </p:nvSpPr>
        <p:spPr>
          <a:xfrm>
            <a:off x="12319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type="body" idx="2"/>
          </p:nvPr>
        </p:nvSpPr>
        <p:spPr>
          <a:xfrm>
            <a:off x="3207657" y="4"/>
            <a:ext cx="8828768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11"/>
          <p:cNvSpPr txBox="1"/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9" name="Google Shape;49;p12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6" name="Google Shape;56;p13"/>
          <p:cNvSpPr txBox="1"/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type="body" idx="3"/>
          </p:nvPr>
        </p:nvSpPr>
        <p:spPr>
          <a:xfrm>
            <a:off x="6172203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8" name="Google Shape;58;p13"/>
          <p:cNvSpPr txBox="1"/>
          <p:nvPr>
            <p:ph type="body" idx="4"/>
          </p:nvPr>
        </p:nvSpPr>
        <p:spPr>
          <a:xfrm>
            <a:off x="6172203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type="body"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15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5"/>
          <p:cNvSpPr txBox="1"/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5" name="Google Shape;75;p16"/>
          <p:cNvSpPr/>
          <p:nvPr>
            <p:ph type="pic" idx="2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6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6"/>
          <p:cNvSpPr txBox="1"/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type="body" idx="1"/>
          </p:nvPr>
        </p:nvSpPr>
        <p:spPr>
          <a:xfrm rot="5400000">
            <a:off x="3713859" y="-2040767"/>
            <a:ext cx="4912247" cy="11523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 rot="5400000">
            <a:off x="7133433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type="body" idx="1"/>
          </p:nvPr>
        </p:nvSpPr>
        <p:spPr>
          <a:xfrm rot="5400000">
            <a:off x="1799433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11243733" y="0"/>
            <a:ext cx="948267" cy="1116000"/>
          </a:xfrm>
          <a:prstGeom prst="rect">
            <a:avLst/>
          </a:prstGeom>
          <a:gradFill>
            <a:gsLst>
              <a:gs pos="0">
                <a:srgbClr val="005A9E"/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Google Shape;11;p8"/>
          <p:cNvSpPr txBox="1"/>
          <p:nvPr>
            <p:ph type="body" idx="1"/>
          </p:nvPr>
        </p:nvSpPr>
        <p:spPr>
          <a:xfrm>
            <a:off x="408375" y="1264717"/>
            <a:ext cx="11523215" cy="4912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5" name="Google Shape;15;p8"/>
          <p:cNvSpPr/>
          <p:nvPr/>
        </p:nvSpPr>
        <p:spPr>
          <a:xfrm>
            <a:off x="2982071" y="0"/>
            <a:ext cx="864000" cy="1080000"/>
          </a:xfrm>
          <a:prstGeom prst="parallelogram">
            <a:avLst>
              <a:gd name="adj" fmla="val 76885"/>
            </a:avLst>
          </a:prstGeom>
          <a:solidFill>
            <a:srgbClr val="002060"/>
          </a:solidFill>
          <a:ln w="12700" cap="flat" cmpd="sng">
            <a:solidFill>
              <a:srgbClr val="00257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8"/>
          <p:cNvSpPr/>
          <p:nvPr/>
        </p:nvSpPr>
        <p:spPr>
          <a:xfrm>
            <a:off x="2717287" y="-2"/>
            <a:ext cx="864000" cy="1080000"/>
          </a:xfrm>
          <a:prstGeom prst="parallelogram">
            <a:avLst>
              <a:gd name="adj" fmla="val 76900"/>
            </a:avLst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Google Shape;17;p8"/>
          <p:cNvSpPr/>
          <p:nvPr/>
        </p:nvSpPr>
        <p:spPr>
          <a:xfrm>
            <a:off x="-1941" y="6248400"/>
            <a:ext cx="12193943" cy="612000"/>
          </a:xfrm>
          <a:prstGeom prst="rect">
            <a:avLst/>
          </a:prstGeom>
          <a:solidFill>
            <a:srgbClr val="00257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28800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" name="Google Shape;18;p8"/>
          <p:cNvSpPr/>
          <p:nvPr/>
        </p:nvSpPr>
        <p:spPr>
          <a:xfrm rot="10800000" flipH="1">
            <a:off x="-836" y="1063056"/>
            <a:ext cx="3928511" cy="45719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" name="Google Shape;19;p8"/>
          <p:cNvSpPr/>
          <p:nvPr/>
        </p:nvSpPr>
        <p:spPr>
          <a:xfrm>
            <a:off x="3231947" y="0"/>
            <a:ext cx="8952912" cy="1116000"/>
          </a:xfrm>
          <a:prstGeom prst="parallelogram">
            <a:avLst>
              <a:gd name="adj" fmla="val 60246"/>
            </a:avLst>
          </a:prstGeom>
          <a:gradFill>
            <a:gsLst>
              <a:gs pos="0">
                <a:srgbClr val="001746"/>
              </a:gs>
              <a:gs pos="50000">
                <a:srgbClr val="002570"/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endParaRPr sz="3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0" name="Google Shape;20;p8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17524" y="148718"/>
            <a:ext cx="2801877" cy="85556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8"/>
          <p:cNvSpPr/>
          <p:nvPr/>
        </p:nvSpPr>
        <p:spPr>
          <a:xfrm>
            <a:off x="16925" y="6242481"/>
            <a:ext cx="8460871" cy="288000"/>
          </a:xfrm>
          <a:prstGeom prst="parallelogram">
            <a:avLst>
              <a:gd name="adj" fmla="val 92493"/>
            </a:avLst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Google Shape;22;p8"/>
          <p:cNvSpPr/>
          <p:nvPr/>
        </p:nvSpPr>
        <p:spPr>
          <a:xfrm>
            <a:off x="-1942" y="6242484"/>
            <a:ext cx="510387" cy="2880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" name="Google Shape;23;p8"/>
          <p:cNvSpPr txBox="1"/>
          <p:nvPr/>
        </p:nvSpPr>
        <p:spPr>
          <a:xfrm>
            <a:off x="11572859" y="6248400"/>
            <a:ext cx="612000" cy="612000"/>
          </a:xfrm>
          <a:prstGeom prst="rect">
            <a:avLst/>
          </a:prstGeom>
          <a:solidFill>
            <a:srgbClr val="002570"/>
          </a:solidFill>
          <a:ln w="9525" cap="flat" cmpd="sng">
            <a:solidFill>
              <a:srgbClr val="0025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fld id="{00000000-1234-1234-1234-123412341234}" type="slidenum">
              <a:rPr lang="en-US" sz="20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20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4" name="Google Shape;24;p8"/>
          <p:cNvGrpSpPr/>
          <p:nvPr/>
        </p:nvGrpSpPr>
        <p:grpSpPr>
          <a:xfrm>
            <a:off x="74092" y="1206040"/>
            <a:ext cx="738981" cy="129382"/>
            <a:chOff x="2167931" y="2006913"/>
            <a:chExt cx="1478230" cy="258682"/>
          </a:xfrm>
        </p:grpSpPr>
        <p:sp>
          <p:nvSpPr>
            <p:cNvPr id="25" name="Google Shape;25;p8"/>
            <p:cNvSpPr/>
            <p:nvPr/>
          </p:nvSpPr>
          <p:spPr>
            <a:xfrm>
              <a:off x="2167931" y="2006913"/>
              <a:ext cx="258809" cy="25868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 panose="020B0604020202020204"/>
                <a:buNone/>
              </a:pPr>
              <a:endParaRPr sz="9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2472786" y="2006913"/>
              <a:ext cx="258809" cy="2586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 panose="020B0604020202020204"/>
                <a:buNone/>
              </a:pPr>
              <a:endParaRPr sz="9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2777642" y="2006913"/>
              <a:ext cx="258809" cy="2586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 panose="020B0604020202020204"/>
                <a:buNone/>
              </a:pPr>
              <a:endParaRPr sz="9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" name="Google Shape;28;p8"/>
            <p:cNvSpPr/>
            <p:nvPr/>
          </p:nvSpPr>
          <p:spPr>
            <a:xfrm>
              <a:off x="3082497" y="2006913"/>
              <a:ext cx="258809" cy="2586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 panose="020B0604020202020204"/>
                <a:buNone/>
              </a:pPr>
              <a:endParaRPr sz="9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" name="Google Shape;29;p8"/>
            <p:cNvSpPr/>
            <p:nvPr/>
          </p:nvSpPr>
          <p:spPr>
            <a:xfrm>
              <a:off x="3387352" y="2006913"/>
              <a:ext cx="258809" cy="25868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 panose="020B0604020202020204"/>
                <a:buNone/>
              </a:pPr>
              <a:endParaRPr sz="9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/>
        </p:nvSpPr>
        <p:spPr>
          <a:xfrm>
            <a:off x="3043358" y="6519450"/>
            <a:ext cx="6105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Huế, 2026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08225" y="2793425"/>
            <a:ext cx="10435500" cy="12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US" sz="2800" b="1" i="0" u="none" strike="noStrike" cap="none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NGHI</a:t>
            </a:r>
            <a:r>
              <a:rPr lang="en-US" altLang="en-US" sz="2800" b="1" i="0" u="none" strike="noStrike" cap="none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Ê</a:t>
            </a:r>
            <a:r>
              <a:rPr lang="en-US" altLang="en-US" sz="2800" b="1" i="0" u="none" strike="noStrike" cap="none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N CỨU KỸ THUẬT </a:t>
            </a:r>
            <a:r>
              <a:rPr lang="en-US" altLang="en-US" sz="2800" b="1" i="0" u="none" strike="noStrike" cap="none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Đ</a:t>
            </a:r>
            <a:r>
              <a:rPr lang="en-US" altLang="en-US" sz="2800" b="1" i="0" u="none" strike="noStrike" cap="none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IỀU PHỐI GRADIENT V</a:t>
            </a:r>
            <a:r>
              <a:rPr lang="en-US" altLang="en-US" sz="2800" b="1" i="0" u="none" strike="noStrike" cap="none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À </a:t>
            </a:r>
            <a:r>
              <a:rPr lang="en-US" altLang="en-US" sz="2800" b="1" i="0" u="none" strike="noStrike" cap="none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TINH LỌC DỮ LIỆU NHẰM TỐI </a:t>
            </a:r>
            <a:r>
              <a:rPr lang="en-US" altLang="en-US" sz="2800" b="1" i="0" u="none" strike="noStrike" cap="none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Ư</a:t>
            </a:r>
            <a:r>
              <a:rPr lang="en-US" altLang="en-US" sz="2800" b="1" i="0" u="none" strike="noStrike" cap="none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U H</a:t>
            </a:r>
            <a:r>
              <a:rPr lang="en-US" altLang="en-US" sz="2800" b="1" i="0" u="none" strike="noStrike" cap="none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Ó</a:t>
            </a:r>
            <a:r>
              <a:rPr lang="en-US" altLang="en-US" sz="2800" b="1" i="0" u="none" strike="noStrike" cap="none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A MÔ H</a:t>
            </a:r>
            <a:r>
              <a:rPr lang="en-US" altLang="en-US" sz="2800" b="1" i="0" u="none" strike="noStrike" cap="none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Ì</a:t>
            </a:r>
            <a:r>
              <a:rPr lang="en-US" altLang="en-US" sz="2800" b="1" i="0" u="none" strike="noStrike" cap="none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NH NHẬN DẠNG KHUÔN MẶT 6-BIT</a:t>
            </a:r>
            <a:endParaRPr lang="en-US" altLang="en-US" sz="2800" b="1" i="0" u="none" strike="noStrike" cap="none">
              <a:solidFill>
                <a:srgbClr val="FF0000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500380" y="4951095"/>
            <a:ext cx="5588635" cy="104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vi-VN" altLang="en-US" sz="2400" b="1" i="0" u="none" strike="noStrike" cap="none">
                <a:solidFill>
                  <a:srgbClr val="00257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Sinh viên: </a:t>
            </a:r>
            <a:r>
              <a:rPr lang="en-US" sz="2400" b="1" i="0" u="none" strike="noStrike" cap="none">
                <a:solidFill>
                  <a:srgbClr val="00257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Hoàng Kim Thiên</a:t>
            </a:r>
            <a:endParaRPr lang="en-US" sz="2400" b="1" i="0" u="none" strike="noStrike" cap="none">
              <a:solidFill>
                <a:srgbClr val="00257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vi-VN" altLang="en-US" sz="2400" b="1" i="0" u="none" strike="noStrike" cap="none">
                <a:solidFill>
                  <a:srgbClr val="00257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GVHD: TS. Lê Quang Chiến</a:t>
            </a:r>
            <a:endParaRPr lang="en-US" sz="2400" b="1" i="0" u="none" strike="noStrike" cap="none">
              <a:solidFill>
                <a:srgbClr val="00257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992966" y="1679142"/>
            <a:ext cx="8206069" cy="767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 panose="020B0604020202020204"/>
              <a:buNone/>
            </a:pPr>
            <a:r>
              <a:rPr lang="vi-VN" altLang="en-US" sz="4400" b="1" i="0" u="none" strike="noStrike" cap="none">
                <a:solidFill>
                  <a:srgbClr val="00257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BÁO CÁO KHÓA LUẬN</a:t>
            </a:r>
            <a:endParaRPr lang="vi-VN" altLang="en-US" sz="4400" b="1" i="0" u="none" strike="noStrike" cap="none">
              <a:solidFill>
                <a:srgbClr val="002570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0680" y="3958590"/>
            <a:ext cx="1793875" cy="2613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0" grpId="1"/>
      <p:bldP spid="99" grpId="0"/>
      <p:bldP spid="9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type="body" idx="1"/>
          </p:nvPr>
        </p:nvSpPr>
        <p:spPr>
          <a:xfrm>
            <a:off x="334400" y="1776350"/>
            <a:ext cx="11479200" cy="45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922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 panose="020B0604020202020204"/>
              <a:buNone/>
            </a:pPr>
            <a:r>
              <a:rPr lang="vi-VN" sz="2800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Bài toán đặt ra và mục tiêu</a:t>
            </a:r>
            <a:endParaRPr sz="2800">
              <a:solidFill>
                <a:srgbClr val="59595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922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 panose="020B0604020202020204"/>
              <a:buNone/>
            </a:pPr>
            <a:r>
              <a:rPr lang="vi-VN" altLang="en-US" sz="2800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</a:t>
            </a:r>
            <a:r>
              <a:rPr lang="en-US" sz="2800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Phương pháp đề xuất</a:t>
            </a:r>
            <a:endParaRPr sz="2800">
              <a:solidFill>
                <a:srgbClr val="59595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922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 panose="020B0604020202020204"/>
              <a:buNone/>
            </a:pPr>
            <a:r>
              <a:rPr lang="vi-VN" altLang="en-US" sz="2800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 </a:t>
            </a:r>
            <a:r>
              <a:rPr lang="en-US" sz="2800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Kết quả và </a:t>
            </a:r>
            <a:r>
              <a:rPr lang="vi-VN" altLang="en-US" sz="2800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phân tích</a:t>
            </a:r>
            <a:endParaRPr lang="vi-VN" altLang="en-US" sz="2800">
              <a:solidFill>
                <a:srgbClr val="59595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922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 panose="020B0604020202020204"/>
              <a:buNone/>
            </a:pPr>
            <a:r>
              <a:rPr lang="vi-VN" altLang="en-US" sz="2800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4. </a:t>
            </a:r>
            <a:r>
              <a:rPr lang="en-US" sz="2800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Kết </a:t>
            </a:r>
            <a:r>
              <a:rPr lang="vi-VN" altLang="en-US" sz="2800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luận</a:t>
            </a:r>
            <a:endParaRPr lang="vi-VN" altLang="en-US" sz="2800">
              <a:solidFill>
                <a:srgbClr val="59595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" name="Google Shape;108;p2"/>
          <p:cNvSpPr txBox="1"/>
          <p:nvPr>
            <p:ph type="body" idx="2"/>
          </p:nvPr>
        </p:nvSpPr>
        <p:spPr>
          <a:xfrm>
            <a:off x="3207657" y="4"/>
            <a:ext cx="8828768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NỘI DUNG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body" idx="2"/>
          </p:nvPr>
        </p:nvSpPr>
        <p:spPr>
          <a:xfrm>
            <a:off x="3207657" y="4"/>
            <a:ext cx="8828768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080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</a:pPr>
            <a:r>
              <a:rPr lang="vi-VN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Bài toán đặt ra và mục </a:t>
            </a:r>
            <a:r>
              <a:rPr lang="vi-VN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tiêu </a:t>
            </a:r>
            <a:endParaRPr lang="vi-VN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220475" y="1506300"/>
            <a:ext cx="4929600" cy="4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1.1</a:t>
            </a:r>
            <a:r>
              <a:rPr lang="vi-VN" altLang="en-US" sz="22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Bài toán đặt ra </a:t>
            </a:r>
            <a:endParaRPr sz="2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US" sz="2200" b="0" i="0" u="none" strike="noStrike" cap="none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Bối cảnh: </a:t>
            </a:r>
            <a:endParaRPr sz="2200" b="0" i="0" u="none" strike="noStrike" cap="none">
              <a:solidFill>
                <a:srgbClr val="0000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873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Char char="-"/>
            </a:pPr>
            <a:r>
              <a:rPr 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Face recognition models ngày càng lớn và nặng</a:t>
            </a:r>
            <a:endParaRPr lang="en-US" sz="25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873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Char char="-"/>
            </a:pPr>
            <a:r>
              <a:rPr lang="vi-VN" alt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Đặt ra thử thách khi triển khai trên các thiết bị </a:t>
            </a:r>
            <a:r>
              <a:rPr lang="vi-VN" alt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biên </a:t>
            </a:r>
            <a:endParaRPr lang="vi-VN" altLang="en-US" sz="25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096000" y="1734820"/>
            <a:ext cx="5804535" cy="403288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5030470" y="5767705"/>
            <a:ext cx="2470785" cy="52197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vi-VN" altLang="en-US" sz="2800"/>
              <a:t>Nén </a:t>
            </a:r>
            <a:r>
              <a:rPr lang="vi-VN" altLang="en-US" sz="2800"/>
              <a:t>mô hình</a:t>
            </a:r>
            <a:endParaRPr lang="vi-VN" altLang="en-US" sz="280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7578725" y="5652770"/>
            <a:ext cx="923290" cy="337820"/>
          </a:xfrm>
          <a:prstGeom prst="straightConnector1">
            <a:avLst/>
          </a:prstGeom>
          <a:ln w="444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d2059c426_0_7"/>
          <p:cNvSpPr txBox="1"/>
          <p:nvPr>
            <p:ph type="body" idx="2"/>
          </p:nvPr>
        </p:nvSpPr>
        <p:spPr>
          <a:xfrm>
            <a:off x="3207657" y="4"/>
            <a:ext cx="8828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080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</a:pPr>
            <a:r>
              <a:rPr lang="vi-VN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Bài toán đặt ra và mục tiêu 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Google Shape;125;g3bd2059c426_0_7"/>
          <p:cNvSpPr txBox="1"/>
          <p:nvPr/>
        </p:nvSpPr>
        <p:spPr>
          <a:xfrm>
            <a:off x="220475" y="1506300"/>
            <a:ext cx="4929600" cy="4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</a:t>
            </a:r>
            <a:r>
              <a:rPr lang="vi-VN" alt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 Các nghiên cứu trước đây</a:t>
            </a:r>
            <a:endParaRPr sz="25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endParaRPr sz="2500" b="0" i="0" u="none" strike="noStrike" cap="none">
              <a:solidFill>
                <a:srgbClr val="0000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2760980" y="2108200"/>
            <a:ext cx="6985635" cy="38068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760980" y="6003925"/>
            <a:ext cx="698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en-US" sz="1800" i="1">
                <a:solidFill>
                  <a:srgbClr val="FF0000"/>
                </a:solidFill>
              </a:rPr>
              <a:t>Ví dụ minh họa lượng tử hóa</a:t>
            </a:r>
            <a:endParaRPr lang="vi-VN" altLang="en-US" sz="1800" i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d2059c426_0_7"/>
          <p:cNvSpPr txBox="1"/>
          <p:nvPr>
            <p:ph type="body" idx="2"/>
          </p:nvPr>
        </p:nvSpPr>
        <p:spPr>
          <a:xfrm>
            <a:off x="3207657" y="4"/>
            <a:ext cx="8828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080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</a:pPr>
            <a:r>
              <a:rPr lang="vi-VN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Bài toán đặt ra và mục tiêu 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Google Shape;125;g3bd2059c426_0_7"/>
          <p:cNvSpPr txBox="1"/>
          <p:nvPr/>
        </p:nvSpPr>
        <p:spPr>
          <a:xfrm>
            <a:off x="220475" y="1574245"/>
            <a:ext cx="4929600" cy="4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</a:t>
            </a:r>
            <a:r>
              <a:rPr lang="vi-VN" alt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 Các nghiên cứu trước đây</a:t>
            </a:r>
            <a:endParaRPr lang="vi-VN" altLang="en-US" sz="25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endParaRPr lang="vi-VN" altLang="en-US" sz="25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vi-VN" alt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 Tận dụng bộ dữ liệu tổng hợp với quy mô lớn để giảm sự suy giảm về hiệu năng</a:t>
            </a:r>
            <a:endParaRPr lang="vi-VN" altLang="en-US" sz="25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vi-VN" alt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 Đánh đổi bởi chi phí sinh ảnh</a:t>
            </a:r>
            <a:endParaRPr sz="25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endParaRPr sz="2500" b="0" i="0" u="none" strike="noStrike" cap="none">
              <a:solidFill>
                <a:srgbClr val="0000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7" name="Google Shape;67;g3e90edd1a89_0_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706235" y="1101725"/>
            <a:ext cx="4979035" cy="5062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d2059c426_0_7"/>
          <p:cNvSpPr txBox="1"/>
          <p:nvPr>
            <p:ph type="body" idx="2"/>
          </p:nvPr>
        </p:nvSpPr>
        <p:spPr>
          <a:xfrm>
            <a:off x="3207657" y="4"/>
            <a:ext cx="8828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080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</a:pPr>
            <a:r>
              <a:rPr lang="vi-VN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Bài toán đặt ra và mục tiêu 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Google Shape;125;g3bd2059c426_0_7"/>
          <p:cNvSpPr txBox="1"/>
          <p:nvPr/>
        </p:nvSpPr>
        <p:spPr>
          <a:xfrm>
            <a:off x="220475" y="1574245"/>
            <a:ext cx="4929600" cy="4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</a:t>
            </a:r>
            <a:r>
              <a:rPr lang="vi-VN" alt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 Mục </a:t>
            </a:r>
            <a:r>
              <a:rPr lang="vi-VN" alt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tiêu</a:t>
            </a:r>
            <a:endParaRPr lang="vi-VN" altLang="en-US" sz="25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endParaRPr lang="vi-VN" altLang="en-US" sz="25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vi-VN" alt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 Xây dựng một quy trình huấn luyện nhận biết lượng tử 6 bit </a:t>
            </a:r>
            <a:r>
              <a:rPr lang="en-US" alt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bằng dữ liệu thực </a:t>
            </a:r>
            <a:r>
              <a:rPr lang="en-US" alt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đư</a:t>
            </a:r>
            <a:r>
              <a:rPr lang="en-US" alt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ợc chọn lọc kỹ và chiến l</a:t>
            </a:r>
            <a:r>
              <a:rPr lang="en-US" alt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25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ợc huấn luyện phù hợp </a:t>
            </a:r>
            <a:endParaRPr lang="en-US" altLang="en-US" sz="25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endParaRPr lang="vi-VN" altLang="en-US" sz="25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endParaRPr sz="2500" b="0" i="0" u="none" strike="noStrike" cap="none">
              <a:solidFill>
                <a:srgbClr val="0000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4965065" y="1235710"/>
            <a:ext cx="7071360" cy="4634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d2059c426_0_53"/>
          <p:cNvSpPr txBox="1"/>
          <p:nvPr>
            <p:ph type="body" idx="2"/>
          </p:nvPr>
        </p:nvSpPr>
        <p:spPr>
          <a:xfrm>
            <a:off x="3207657" y="4"/>
            <a:ext cx="8828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Phương pháp đề xuất</a:t>
            </a:r>
            <a:endParaRPr sz="28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g3bd2059c426_0_61"/>
          <p:cNvSpPr txBox="1"/>
          <p:nvPr/>
        </p:nvSpPr>
        <p:spPr>
          <a:xfrm>
            <a:off x="495300" y="1701175"/>
            <a:ext cx="10014600" cy="379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2.1 Quy trình tổng thể</a:t>
            </a:r>
            <a:r>
              <a:rPr 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25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873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Char char="-"/>
            </a:pPr>
            <a:r>
              <a:rPr lang="vi-VN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Khung lượng tử hóa</a:t>
            </a:r>
            <a:endParaRPr sz="25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87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Char char="-"/>
            </a:pP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Điều phối gradient </a:t>
            </a: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bằng </a:t>
            </a:r>
            <a:r>
              <a:rPr lang="en-US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β-MSE</a:t>
            </a:r>
            <a:endParaRPr lang="en-US" altLang="en-US" sz="25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87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Char char="-"/>
            </a:pP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Lịch huấn luyện 3 </a:t>
            </a: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pha</a:t>
            </a:r>
            <a:endParaRPr lang="vi-VN" altLang="en-US" sz="25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87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Char char="-"/>
            </a:pP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Chiến lược dữ liệu tinh </a:t>
            </a: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lọc</a:t>
            </a:r>
            <a:endParaRPr lang="vi-VN" altLang="en-US" sz="25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98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None/>
            </a:pPr>
            <a:endParaRPr sz="25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d2059c426_0_53"/>
          <p:cNvSpPr txBox="1"/>
          <p:nvPr>
            <p:ph type="body" idx="2"/>
          </p:nvPr>
        </p:nvSpPr>
        <p:spPr>
          <a:xfrm>
            <a:off x="3207657" y="4"/>
            <a:ext cx="8828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Phương pháp đề xuất</a:t>
            </a:r>
            <a:endParaRPr sz="28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1666875" y="1262380"/>
            <a:ext cx="9385935" cy="43395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387600" y="5831205"/>
            <a:ext cx="7901305" cy="347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1800" i="1">
                <a:solidFill>
                  <a:srgbClr val="FF0000"/>
                </a:solidFill>
              </a:rPr>
              <a:t>Tổng quan ph</a:t>
            </a:r>
            <a:r>
              <a:rPr lang="en-US" altLang="en-US" sz="1800" i="1">
                <a:solidFill>
                  <a:srgbClr val="FF0000"/>
                </a:solidFill>
              </a:rPr>
              <a:t>ư</a:t>
            </a:r>
            <a:r>
              <a:rPr lang="en-US" altLang="en-US" sz="1800" i="1">
                <a:solidFill>
                  <a:srgbClr val="FF0000"/>
                </a:solidFill>
              </a:rPr>
              <a:t>ơng pháp </a:t>
            </a:r>
            <a:r>
              <a:rPr lang="en-US" altLang="en-US" sz="1800" i="1">
                <a:solidFill>
                  <a:srgbClr val="FF0000"/>
                </a:solidFill>
              </a:rPr>
              <a:t>đ</a:t>
            </a:r>
            <a:r>
              <a:rPr lang="en-US" altLang="en-US" sz="1800" i="1">
                <a:solidFill>
                  <a:srgbClr val="FF0000"/>
                </a:solidFill>
              </a:rPr>
              <a:t>ề xuất</a:t>
            </a:r>
            <a:endParaRPr lang="en-US" altLang="en-US" sz="1800" i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d2059c426_0_61"/>
          <p:cNvSpPr txBox="1"/>
          <p:nvPr>
            <p:ph type="body" idx="2"/>
          </p:nvPr>
        </p:nvSpPr>
        <p:spPr>
          <a:xfrm>
            <a:off x="3207657" y="4"/>
            <a:ext cx="8828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Phương pháp đề xuất</a:t>
            </a:r>
            <a:endParaRPr sz="28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g3bd2059c426_0_61"/>
          <p:cNvSpPr txBox="1"/>
          <p:nvPr/>
        </p:nvSpPr>
        <p:spPr>
          <a:xfrm>
            <a:off x="495300" y="1701175"/>
            <a:ext cx="10014600" cy="1335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2.1</a:t>
            </a: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 Điều phối gradient bằng </a:t>
            </a:r>
            <a:r>
              <a:rPr lang="en-US" altLang="en-US" sz="2500">
                <a:solidFill>
                  <a:schemeClr val="dk1"/>
                </a:solidFill>
                <a:sym typeface="Arial" panose="020B0604020202020204"/>
              </a:rPr>
              <a:t>β-MSE</a:t>
            </a:r>
            <a:endParaRPr lang="en-US" altLang="en-US" sz="25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lang="vi-VN" altLang="en-US" sz="25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4025" y="2794635"/>
            <a:ext cx="5595620" cy="63436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153535" y="4733925"/>
            <a:ext cx="622744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US" sz="2000"/>
              <a:t>Giữ student đi theo cấu trúc biểu diễn của teacher </a:t>
            </a:r>
            <a:endParaRPr lang="vi-VN" altLang="en-US" sz="20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4733290"/>
            <a:ext cx="676275" cy="495300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stCxn id="2" idx="2"/>
          </p:cNvCxnSpPr>
          <p:nvPr/>
        </p:nvCxnSpPr>
        <p:spPr>
          <a:xfrm flipH="1">
            <a:off x="4885055" y="3429000"/>
            <a:ext cx="906780" cy="951865"/>
          </a:xfrm>
          <a:prstGeom prst="straightConnector1">
            <a:avLst/>
          </a:prstGeom>
          <a:ln w="412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d2059c426_0_61"/>
          <p:cNvSpPr txBox="1"/>
          <p:nvPr>
            <p:ph type="body" idx="2"/>
          </p:nvPr>
        </p:nvSpPr>
        <p:spPr>
          <a:xfrm>
            <a:off x="3207657" y="4"/>
            <a:ext cx="8828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Phương pháp đề xuất</a:t>
            </a:r>
            <a:endParaRPr sz="28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g3bd2059c426_0_61"/>
          <p:cNvSpPr txBox="1"/>
          <p:nvPr/>
        </p:nvSpPr>
        <p:spPr>
          <a:xfrm>
            <a:off x="495300" y="1416695"/>
            <a:ext cx="10014600" cy="1335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2.1</a:t>
            </a: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 Chiến lược ba pha</a:t>
            </a:r>
            <a:endParaRPr lang="en-US" altLang="en-US" sz="25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lang="vi-VN" altLang="en-US" sz="25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2173605" y="2090420"/>
            <a:ext cx="8676640" cy="36296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173605" y="5868670"/>
            <a:ext cx="86766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i="1">
                <a:solidFill>
                  <a:srgbClr val="FF0000"/>
                </a:solidFill>
              </a:rPr>
              <a:t>Sơ </a:t>
            </a:r>
            <a:r>
              <a:rPr lang="en-US" altLang="en-US" sz="2000" i="1">
                <a:solidFill>
                  <a:srgbClr val="FF0000"/>
                </a:solidFill>
              </a:rPr>
              <a:t>đ</a:t>
            </a:r>
            <a:r>
              <a:rPr lang="en-US" altLang="en-US" sz="2000" i="1">
                <a:solidFill>
                  <a:srgbClr val="FF0000"/>
                </a:solidFill>
              </a:rPr>
              <a:t>ồ luồng dữ liệu trong chiến l</a:t>
            </a:r>
            <a:r>
              <a:rPr lang="en-US" altLang="en-US" sz="2000" i="1">
                <a:solidFill>
                  <a:srgbClr val="FF0000"/>
                </a:solidFill>
              </a:rPr>
              <a:t>ư</a:t>
            </a:r>
            <a:r>
              <a:rPr lang="en-US" altLang="en-US" sz="2000" i="1">
                <a:solidFill>
                  <a:srgbClr val="FF0000"/>
                </a:solidFill>
              </a:rPr>
              <a:t>ợc huấn luyện ba pha</a:t>
            </a:r>
            <a:endParaRPr lang="en-US" altLang="en-US" sz="2000" i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d2059c426_0_61"/>
          <p:cNvSpPr txBox="1"/>
          <p:nvPr>
            <p:ph type="body" idx="2"/>
          </p:nvPr>
        </p:nvSpPr>
        <p:spPr>
          <a:xfrm>
            <a:off x="3207657" y="4"/>
            <a:ext cx="8828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Phương pháp đề xuất</a:t>
            </a:r>
            <a:endParaRPr sz="28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g3bd2059c426_0_61"/>
          <p:cNvSpPr txBox="1"/>
          <p:nvPr/>
        </p:nvSpPr>
        <p:spPr>
          <a:xfrm>
            <a:off x="495300" y="1416685"/>
            <a:ext cx="5273675" cy="417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2.1</a:t>
            </a: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 </a:t>
            </a:r>
            <a:r>
              <a:rPr lang="vi-VN" altLang="en-US" sz="2500">
                <a:solidFill>
                  <a:schemeClr val="dk1"/>
                </a:solidFill>
                <a:sym typeface="Arial" panose="020B0604020202020204"/>
              </a:rPr>
              <a:t>Chiến lược dữ liệu tinh lọc</a:t>
            </a:r>
            <a:endParaRPr lang="vi-VN" altLang="en-US" sz="2500">
              <a:solidFill>
                <a:schemeClr val="dk1"/>
              </a:solidFill>
              <a:sym typeface="Arial" panose="020B0604020202020204"/>
            </a:endParaRPr>
          </a:p>
          <a:p>
            <a:pPr marL="698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None/>
            </a:pPr>
            <a:r>
              <a:rPr lang="vi-VN" altLang="en-US" sz="2500">
                <a:solidFill>
                  <a:schemeClr val="dk1"/>
                </a:solidFill>
                <a:sym typeface="Arial" panose="020B0604020202020204"/>
              </a:rPr>
              <a:t>- Q</a:t>
            </a:r>
            <a:r>
              <a:rPr lang="en-US" altLang="en-US" sz="2500">
                <a:solidFill>
                  <a:schemeClr val="dk1"/>
                </a:solidFill>
                <a:sym typeface="Arial" panose="020B0604020202020204"/>
              </a:rPr>
              <a:t>uality over quantity</a:t>
            </a:r>
            <a:endParaRPr lang="en-US" altLang="en-US" sz="2500">
              <a:solidFill>
                <a:schemeClr val="dk1"/>
              </a:solidFill>
              <a:sym typeface="Arial" panose="020B0604020202020204"/>
            </a:endParaRPr>
          </a:p>
          <a:p>
            <a:pPr marL="698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None/>
            </a:pPr>
            <a:r>
              <a:rPr lang="vi-VN" altLang="en-US" sz="2500">
                <a:solidFill>
                  <a:schemeClr val="dk1"/>
                </a:solidFill>
                <a:sym typeface="Arial" panose="020B0604020202020204"/>
              </a:rPr>
              <a:t>- Tập trung các biến thiên mang lại giá trị cao cho nhận dạng khuôn mặt low-bit.</a:t>
            </a:r>
            <a:endParaRPr lang="en-US" altLang="en-US" sz="2500">
              <a:solidFill>
                <a:schemeClr val="dk1"/>
              </a:solidFill>
              <a:sym typeface="Arial" panose="020B060402020202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vi-VN" altLang="en-US" sz="2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lang="vi-VN" altLang="en-US" sz="25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768975" y="5084445"/>
            <a:ext cx="62674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i="1">
                <a:solidFill>
                  <a:srgbClr val="FF0000"/>
                </a:solidFill>
              </a:rPr>
              <a:t>Các mẫu ảnh tiêu biểu trong tập dữ liệu tinh lọc</a:t>
            </a:r>
            <a:endParaRPr lang="en-US" altLang="en-US" sz="2000" i="1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5768975" y="1264285"/>
            <a:ext cx="6094730" cy="3657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d2059c426_0_103"/>
          <p:cNvSpPr txBox="1"/>
          <p:nvPr>
            <p:ph type="body" idx="2"/>
          </p:nvPr>
        </p:nvSpPr>
        <p:spPr>
          <a:xfrm>
            <a:off x="3207657" y="4"/>
            <a:ext cx="8828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 Kết quả</a:t>
            </a:r>
            <a:r>
              <a:rPr lang="vi-VN" alt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và phân </a:t>
            </a:r>
            <a:r>
              <a:rPr lang="vi-VN" alt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tích</a:t>
            </a:r>
            <a:endParaRPr lang="vi-VN" altLang="en-US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1101725"/>
            <a:ext cx="10318750" cy="45745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386455" y="5710555"/>
            <a:ext cx="62674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i="1">
                <a:solidFill>
                  <a:srgbClr val="FF0000"/>
                </a:solidFill>
              </a:rPr>
              <a:t>Baseline FP32 và Q6 PTQ</a:t>
            </a:r>
            <a:endParaRPr lang="en-US" altLang="en-US" sz="2000" i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d2059c426_0_103"/>
          <p:cNvSpPr txBox="1"/>
          <p:nvPr>
            <p:ph type="body" idx="2"/>
          </p:nvPr>
        </p:nvSpPr>
        <p:spPr>
          <a:xfrm>
            <a:off x="3207657" y="4"/>
            <a:ext cx="8828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 Kết quả</a:t>
            </a:r>
            <a:r>
              <a:rPr lang="vi-VN" alt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và phân </a:t>
            </a:r>
            <a:r>
              <a:rPr lang="vi-VN" alt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tích</a:t>
            </a:r>
            <a:endParaRPr lang="vi-VN" altLang="en-US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586990" y="5710555"/>
            <a:ext cx="8507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i="1">
                <a:solidFill>
                  <a:srgbClr val="FF0000"/>
                </a:solidFill>
              </a:rPr>
              <a:t>Đ</a:t>
            </a:r>
            <a:r>
              <a:rPr lang="en-US" altLang="en-US" sz="2000" i="1">
                <a:solidFill>
                  <a:srgbClr val="FF0000"/>
                </a:solidFill>
              </a:rPr>
              <a:t>ánh giá robustness trên n</a:t>
            </a:r>
            <a:r>
              <a:rPr lang="en-US" altLang="en-US" sz="2000" i="1">
                <a:solidFill>
                  <a:srgbClr val="FF0000"/>
                </a:solidFill>
              </a:rPr>
              <a:t>ă</a:t>
            </a:r>
            <a:r>
              <a:rPr lang="en-US" altLang="en-US" sz="2000" i="1">
                <a:solidFill>
                  <a:srgbClr val="FF0000"/>
                </a:solidFill>
              </a:rPr>
              <a:t>m benchmark bằng TAR@FAR=1</a:t>
            </a:r>
            <a:r>
              <a:rPr lang="vi-VN" altLang="en-US" sz="2000" i="1">
                <a:solidFill>
                  <a:srgbClr val="FF0000"/>
                </a:solidFill>
              </a:rPr>
              <a:t>e-</a:t>
            </a:r>
            <a:r>
              <a:rPr lang="vi-VN" altLang="en-US" sz="2000" i="1">
                <a:solidFill>
                  <a:srgbClr val="FF0000"/>
                </a:solidFill>
              </a:rPr>
              <a:t>4</a:t>
            </a:r>
            <a:endParaRPr lang="vi-VN" altLang="en-US" sz="2000" i="1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6990" y="1233170"/>
            <a:ext cx="8507730" cy="4345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d2059c426_0_103"/>
          <p:cNvSpPr txBox="1"/>
          <p:nvPr>
            <p:ph type="body" idx="2"/>
          </p:nvPr>
        </p:nvSpPr>
        <p:spPr>
          <a:xfrm>
            <a:off x="3207657" y="4"/>
            <a:ext cx="8828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 Kết quả</a:t>
            </a:r>
            <a:r>
              <a:rPr lang="vi-VN" alt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và phân </a:t>
            </a:r>
            <a:r>
              <a:rPr lang="vi-VN" alt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tích</a:t>
            </a:r>
            <a:endParaRPr lang="vi-VN" altLang="en-US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167890" y="5710555"/>
            <a:ext cx="81286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i="1">
                <a:solidFill>
                  <a:srgbClr val="FF0000"/>
                </a:solidFill>
              </a:rPr>
              <a:t>So sánh bản </a:t>
            </a:r>
            <a:r>
              <a:rPr lang="" altLang="en-US" sz="2000" i="1">
                <a:solidFill>
                  <a:srgbClr val="FF0000"/>
                </a:solidFill>
              </a:rPr>
              <a:t>đ</a:t>
            </a:r>
            <a:r>
              <a:rPr lang="en-US" altLang="en-US" sz="2000" i="1">
                <a:solidFill>
                  <a:srgbClr val="FF0000"/>
                </a:solidFill>
              </a:rPr>
              <a:t>ồ Grad-CAM</a:t>
            </a:r>
            <a:endParaRPr lang="en-US" altLang="en-US" sz="2000" i="1">
              <a:solidFill>
                <a:srgbClr val="FF0000"/>
              </a:solidFill>
            </a:endParaRPr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8525" y="1368425"/>
            <a:ext cx="8128000" cy="4342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d2059c426_0_103"/>
          <p:cNvSpPr txBox="1"/>
          <p:nvPr>
            <p:ph type="body" idx="2"/>
          </p:nvPr>
        </p:nvSpPr>
        <p:spPr>
          <a:xfrm>
            <a:off x="3207657" y="4"/>
            <a:ext cx="8828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 Kết quả</a:t>
            </a:r>
            <a:r>
              <a:rPr lang="vi-VN" alt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và phân </a:t>
            </a:r>
            <a:r>
              <a:rPr lang="vi-VN" alt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tích</a:t>
            </a:r>
            <a:endParaRPr lang="vi-VN" altLang="en-US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842135" y="4114800"/>
            <a:ext cx="8507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i="1">
                <a:solidFill>
                  <a:srgbClr val="FF0000"/>
                </a:solidFill>
              </a:rPr>
              <a:t>So sánh chi phí hội tụ sau khi chuẩn hóa về batch size 512</a:t>
            </a:r>
            <a:endParaRPr lang="en-US" altLang="en-US" sz="2000" i="1">
              <a:solidFill>
                <a:srgbClr val="FF0000"/>
              </a:solidFill>
            </a:endParaRPr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315" y="2429510"/>
            <a:ext cx="10452735" cy="128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d2059c426_0_103"/>
          <p:cNvSpPr txBox="1"/>
          <p:nvPr>
            <p:ph type="body" idx="2"/>
          </p:nvPr>
        </p:nvSpPr>
        <p:spPr>
          <a:xfrm>
            <a:off x="3207657" y="4"/>
            <a:ext cx="8828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 Kết quả</a:t>
            </a:r>
            <a:r>
              <a:rPr lang="vi-VN" alt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và phân </a:t>
            </a:r>
            <a:r>
              <a:rPr lang="vi-VN" alt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tích</a:t>
            </a:r>
            <a:endParaRPr lang="vi-VN" altLang="en-US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160270" y="5878195"/>
            <a:ext cx="8507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i="1">
                <a:solidFill>
                  <a:srgbClr val="FF0000"/>
                </a:solidFill>
              </a:rPr>
              <a:t>So sánh Accuracy (Q6) giữa các kiến trúc và benchmark</a:t>
            </a:r>
            <a:r>
              <a:rPr lang="vi-VN" altLang="en-US" sz="2000" i="1">
                <a:solidFill>
                  <a:srgbClr val="FF0000"/>
                </a:solidFill>
              </a:rPr>
              <a:t> [</a:t>
            </a:r>
            <a:r>
              <a:rPr lang="vi-VN" altLang="en-US" sz="2000" i="1">
                <a:solidFill>
                  <a:srgbClr val="FF0000"/>
                </a:solidFill>
              </a:rPr>
              <a:t>2] </a:t>
            </a:r>
            <a:endParaRPr lang="vi-VN" altLang="en-US" sz="2000" i="1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45" y="1275080"/>
            <a:ext cx="11924665" cy="4429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d2059c426_0_103"/>
          <p:cNvSpPr txBox="1"/>
          <p:nvPr>
            <p:ph type="body" idx="2"/>
          </p:nvPr>
        </p:nvSpPr>
        <p:spPr>
          <a:xfrm>
            <a:off x="3207657" y="4"/>
            <a:ext cx="8828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 Kết quả</a:t>
            </a:r>
            <a:r>
              <a:rPr lang="vi-VN" alt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và phân </a:t>
            </a:r>
            <a:r>
              <a:rPr lang="vi-VN" alt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tích</a:t>
            </a:r>
            <a:endParaRPr lang="vi-VN" altLang="en-US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842135" y="5817235"/>
            <a:ext cx="8507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i="1">
                <a:solidFill>
                  <a:srgbClr val="FF0000"/>
                </a:solidFill>
              </a:rPr>
              <a:t> So sánh TAR@FAR=1</a:t>
            </a:r>
            <a:r>
              <a:rPr lang="vi-VN" altLang="en-US" sz="2000" i="1">
                <a:solidFill>
                  <a:srgbClr val="FF0000"/>
                </a:solidFill>
              </a:rPr>
              <a:t>e-</a:t>
            </a:r>
            <a:r>
              <a:rPr lang="en-US" altLang="en-US" sz="2000" i="1">
                <a:solidFill>
                  <a:srgbClr val="FF0000"/>
                </a:solidFill>
              </a:rPr>
              <a:t>4 (Q6) giữa các kiến trúc và benchmark.</a:t>
            </a:r>
            <a:r>
              <a:rPr lang="vi-VN" altLang="en-US" sz="2000" i="1">
                <a:solidFill>
                  <a:srgbClr val="FF0000"/>
                </a:solidFill>
              </a:rPr>
              <a:t> [</a:t>
            </a:r>
            <a:r>
              <a:rPr lang="vi-VN" altLang="en-US" sz="2000" i="1">
                <a:solidFill>
                  <a:srgbClr val="FF0000"/>
                </a:solidFill>
              </a:rPr>
              <a:t>2] </a:t>
            </a:r>
            <a:endParaRPr lang="vi-VN" altLang="en-US" sz="2000" i="1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45565"/>
            <a:ext cx="12191365" cy="4311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d2059c426_0_111"/>
          <p:cNvSpPr txBox="1"/>
          <p:nvPr>
            <p:ph type="body" idx="2"/>
          </p:nvPr>
        </p:nvSpPr>
        <p:spPr>
          <a:xfrm>
            <a:off x="3207657" y="4"/>
            <a:ext cx="8828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vi-VN" alt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4. Kết </a:t>
            </a:r>
            <a:r>
              <a:rPr lang="vi-VN" altLang="en-US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luận</a:t>
            </a:r>
            <a:endParaRPr lang="vi-VN" altLang="en-US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2" name="Google Shape;212;g3bd2059c426_0_111"/>
          <p:cNvSpPr txBox="1"/>
          <p:nvPr/>
        </p:nvSpPr>
        <p:spPr>
          <a:xfrm>
            <a:off x="280035" y="1619250"/>
            <a:ext cx="11756390" cy="405955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vi-VN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 Nhìn chung, 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khóa luận chứng minh rằng việc kết hợp 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iều phối gradient, c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ă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 chỉnh</a:t>
            </a:r>
            <a:r>
              <a:rPr lang="vi-VN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embedding và dữ liệu thực tế 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đư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ợc tinh lọc có thể là một h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ớng tiếp cận hiệu quả cho</a:t>
            </a:r>
            <a:r>
              <a:rPr lang="vi-VN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nhận dạng khuôn mặt low-bit. </a:t>
            </a:r>
            <a:endParaRPr lang="en-US" altLang="en-US" sz="2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vi-VN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 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Ph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ơng pháp này có tiềm n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ă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ng hỗ trợ triển khai mô hình</a:t>
            </a:r>
            <a:r>
              <a:rPr lang="vi-VN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nhận dạng khuôn mặt trên các hệ thống tài nguyên hạn chế, 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ồng thời mở ra các h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ớng</a:t>
            </a:r>
            <a:r>
              <a:rPr lang="vi-VN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nghiên cứu tiếp theo nh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 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mở rộng xuống 4-bit, tự 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ộng lựa chọn dữ liệu khó và 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ánh giá</a:t>
            </a:r>
            <a:r>
              <a:rPr lang="vi-VN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trực tiếp trên phần cứng biên.</a:t>
            </a:r>
            <a:endParaRPr lang="en-US" altLang="en-US" sz="2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d2059c426_0_111"/>
          <p:cNvSpPr txBox="1"/>
          <p:nvPr/>
        </p:nvSpPr>
        <p:spPr>
          <a:xfrm>
            <a:off x="280000" y="1604200"/>
            <a:ext cx="10553700" cy="643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6680" y="3595370"/>
            <a:ext cx="12192000" cy="70675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vi-VN" altLang="en-US" sz="4000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THANKS FOR LISTENING</a:t>
            </a:r>
            <a:endParaRPr lang="vi-VN" altLang="en-US" sz="4000" i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2393</Words>
  <Application>WPS Presentation</Application>
  <PresentationFormat/>
  <Paragraphs>116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SimSun</vt:lpstr>
      <vt:lpstr>Wingdings</vt:lpstr>
      <vt:lpstr>Arial</vt:lpstr>
      <vt:lpstr>Calibri</vt:lpstr>
      <vt:lpstr>Noto Sans Symbols</vt:lpstr>
      <vt:lpstr>Segoe Print</vt:lpstr>
      <vt:lpstr>Montserrat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Thanh Luong</dc:creator>
  <cp:lastModifiedBy>WPS_1685537257</cp:lastModifiedBy>
  <cp:revision>6</cp:revision>
  <dcterms:created xsi:type="dcterms:W3CDTF">2026-06-08T14:52:00Z</dcterms:created>
  <dcterms:modified xsi:type="dcterms:W3CDTF">2026-06-10T03:02:16Z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592E17A3572046BAA35D8AF375AEFD6E_13</vt:lpwstr>
  </property>
  <property fmtid="{D5CDD505-2E9C-101B-9397-08002B2CF9AE}" pid="3" name="KSOProductBuildVer">
    <vt:lpwstr>1033-12.1.0.26880</vt:lpwstr>
  </property>
</Properties>
</file>